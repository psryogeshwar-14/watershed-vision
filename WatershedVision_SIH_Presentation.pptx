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Project Name: </a:t>
            </a:r>
            <a:r>
              <a:rPr b="1" sz="1000">
                <a:solidFill>
                  <a:srgbClr val="059669"/>
                </a:solidFill>
              </a:rPr>
              <a:t>WatershedVision</a:t>
            </a:r>
            <a:endParaRPr lang="en-US" dirty="0"/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Tagline: </a:t>
            </a:r>
            <a:r>
              <a:rPr b="0" sz="1000">
                <a:solidFill>
                  <a:srgbClr val="334155"/>
                </a:solidFill>
              </a:rPr>
              <a:t>Converting field photographs and satellite data into actionable watershed decisions.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Problem Statement ID: </a:t>
            </a:r>
            <a:r>
              <a:rPr b="1" sz="1000">
                <a:solidFill>
                  <a:srgbClr val="059669"/>
                </a:solidFill>
              </a:rPr>
              <a:t>26015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Problem Statement Title: </a:t>
            </a:r>
            <a:r>
              <a:rPr b="0" sz="1000">
                <a:solidFill>
                  <a:srgbClr val="334155"/>
                </a:solidFill>
              </a:rPr>
              <a:t>Application of Geospatial Techniques for visualization and analysis to interpret Geo-Coded Images to enhance watershed Development Outcomes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Ministry / Dept: </a:t>
            </a:r>
            <a:r>
              <a:rPr b="0" sz="1000">
                <a:solidFill>
                  <a:srgbClr val="334155"/>
                </a:solidFill>
              </a:rPr>
              <a:t>Department of Land Resources (DoLR), Ministry of Rural Development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Theme: </a:t>
            </a:r>
            <a:r>
              <a:rPr b="0" sz="1000">
                <a:solidFill>
                  <a:srgbClr val="334155"/>
                </a:solidFill>
              </a:rPr>
              <a:t>Agriculture, FoodTech &amp; Rural Development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PS Category: </a:t>
            </a:r>
            <a:r>
              <a:rPr b="0" sz="1000">
                <a:solidFill>
                  <a:srgbClr val="334155"/>
                </a:solidFill>
              </a:rPr>
              <a:t>Software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Team Name: </a:t>
            </a:r>
            <a:r>
              <a:rPr b="0" sz="1000">
                <a:solidFill>
                  <a:srgbClr val="334155"/>
                </a:solidFill>
              </a:rPr>
              <a:t>WatershedVision Team [SIH-2025-WV01]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Institution: </a:t>
            </a:r>
            <a:r>
              <a:rPr b="0" sz="1000">
                <a:solidFill>
                  <a:srgbClr val="334155"/>
                </a:solidFill>
              </a:rPr>
              <a:t>[Registered College / University Name]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Team Members &amp; Depts: </a:t>
            </a:r>
            <a:r>
              <a:rPr b="0" sz="1000">
                <a:solidFill>
                  <a:srgbClr val="334155"/>
                </a:solidFill>
              </a:rPr>
              <a:t>6 Members (CSE, AI &amp; Data Science, Civil/GIS, IT)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Mentor Name: </a:t>
            </a:r>
            <a:r>
              <a:rPr b="0" sz="1000">
                <a:solidFill>
                  <a:srgbClr val="334155"/>
                </a:solidFill>
              </a:rPr>
              <a:t>[Domain / Faculty Mentor Name]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1026" descr="hero_landscap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645920"/>
            <a:ext cx="47548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v"/>
              <a:defRPr b="1" sz="1100">
                <a:solidFill>
                  <a:srgbClr val="059669"/>
                </a:solidFill>
              </a:defRPr>
            </a:pPr>
            <a: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600"/>
              </a:spcBef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Problem Statement Realities: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Massive Photo Archives:</a:t>
            </a:r>
            <a:r>
              <a:rPr b="0" sz="950">
                <a:solidFill>
                  <a:srgbClr val="334155"/>
                </a:solidFill>
              </a:rPr>
              <a:t> Thousands of geo-tagged ground images collected without automated classification.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Slow Manual Auditing:</a:t>
            </a:r>
            <a:r>
              <a:rPr b="0" sz="950">
                <a:solidFill>
                  <a:srgbClr val="334155"/>
                </a:solidFill>
              </a:rPr>
              <a:t> Inspection teams take weeks to identify damaged or silted structures.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Data Silos:</a:t>
            </a:r>
            <a:r>
              <a:rPr b="0" sz="950">
                <a:solidFill>
                  <a:srgbClr val="334155"/>
                </a:solidFill>
              </a:rPr>
              <a:t> Ground photos, satellite rasters, and cadastral boundaries are disconnected.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Reactive Maintenance:</a:t>
            </a:r>
            <a:r>
              <a:rPr b="0" sz="950">
                <a:solidFill>
                  <a:srgbClr val="334155"/>
                </a:solidFill>
              </a:rPr>
              <a:t> Field officers lack real-time decision support to triage repair budgets before monsoons.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Detailed Explanation of Proposed Solution: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Command Centre:</a:t>
            </a:r>
            <a:r>
              <a:rPr b="0" sz="950">
                <a:solidFill>
                  <a:srgbClr val="334155"/>
                </a:solidFill>
              </a:rPr>
              <a:t> Merges field photographs, GPS EXIF, satellite imagery, and multimodal AI.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Civil Classification:</a:t>
            </a:r>
            <a:r>
              <a:rPr b="0" sz="950">
                <a:solidFill>
                  <a:srgbClr val="334155"/>
                </a:solidFill>
              </a:rPr>
              <a:t> Automatically identifies check dams, ponds, and bunds with structural integrity and siltation scoring.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Satellite Outcome Tracking:</a:t>
            </a:r>
            <a:r>
              <a:rPr b="0" sz="950">
                <a:solidFill>
                  <a:srgbClr val="334155"/>
                </a:solidFill>
              </a:rPr>
              <a:t> Computes multi-temporal NDVI and NDWI deltas over multi-year treatment periods.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Evidence-Based Reporting:</a:t>
            </a:r>
            <a:r>
              <a:rPr b="0" sz="950">
                <a:solidFill>
                  <a:srgbClr val="334155"/>
                </a:solidFill>
              </a:rPr>
              <a:t> Generates statutory MoRD/DoLR audit dossiers with cryptographic verification seals.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Innovation &amp; Technical Uniqueness: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Passive to Active:</a:t>
            </a:r>
            <a:r>
              <a:rPr b="0" sz="950">
                <a:solidFill>
                  <a:srgbClr val="334155"/>
                </a:solidFill>
              </a:rPr>
              <a:t> Converts legacy photo archives into verified geospatial intelligence.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3D Anti-Spoofing:</a:t>
            </a:r>
            <a:r>
              <a:rPr b="0" sz="950">
                <a:solidFill>
                  <a:srgbClr val="334155"/>
                </a:solidFill>
              </a:rPr>
              <a:t> Cross-checks smartphone EXIF altitude against SRTM 30m DEM to eliminate mock GPS tampering.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Cadastral Linking:</a:t>
            </a:r>
            <a:r>
              <a:rPr b="0" sz="950">
                <a:solidFill>
                  <a:srgbClr val="334155"/>
                </a:solidFill>
              </a:rPr>
              <a:t> Enforces PostGIS point-in-polygon checks against registered micro-watershed boundaries.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Workflow:</a:t>
            </a:r>
            <a:r>
              <a:rPr b="0" sz="950">
                <a:solidFill>
                  <a:srgbClr val="334155"/>
                </a:solidFill>
              </a:rPr>
              <a:t> Field Photo + GPS → AI Multimodal Analysis → Satellite Comparison → Health Score → Statutory Report.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800"/>
            </a:pPr>
            <a:r>
              <a:t>WatershedVision Team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800"/>
              </a:spcAft>
              <a:buFont typeface="Arial" panose="020B0604020202020204" pitchFamily="34" charset="0"/>
              <a:buChar char="•"/>
              <a:defRPr b="1" sz="1100">
                <a:solidFill>
                  <a:srgbClr val="059669"/>
                </a:solidFill>
              </a:defRPr>
            </a:pPr>
            <a:r>
              <a:t>Technologies to be used &amp; Implementation Methodology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Technologies to be Used: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Frontend UI/GIS:</a:t>
            </a:r>
            <a:r>
              <a:rPr b="0" sz="950">
                <a:solidFill>
                  <a:srgbClr val="334155"/>
                </a:solidFill>
              </a:rPr>
              <a:t> React 18, Vite, Tailwind CSS, Leaflet JS, Recharts data visualization.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Backend Services:</a:t>
            </a:r>
            <a:r>
              <a:rPr b="0" sz="950">
                <a:solidFill>
                  <a:srgbClr val="334155"/>
                </a:solidFill>
              </a:rPr>
              <a:t> Python 3.11, FastAPI (async/await), Uvicorn ASGI, Docker containerization.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Spatial Database:</a:t>
            </a:r>
            <a:r>
              <a:rPr b="0" sz="950">
                <a:solidFill>
                  <a:srgbClr val="334155"/>
                </a:solidFill>
              </a:rPr>
              <a:t> PostgreSQL 15 + PostGIS spatial extensions for polygon boundaries and OGC queries.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Earth Observation:</a:t>
            </a:r>
            <a:r>
              <a:rPr b="0" sz="950">
                <a:solidFill>
                  <a:srgbClr val="334155"/>
                </a:solidFill>
              </a:rPr>
              <a:t> Google Earth Engine (GEE), Copernicus Sentinel-2 MSI (10m), Landsat 8/9.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Multimodal Vision AI:</a:t>
            </a:r>
            <a:r>
              <a:rPr b="0" sz="950">
                <a:solidFill>
                  <a:srgbClr val="334155"/>
                </a:solidFill>
              </a:rPr>
              <a:t> Gemini Vision API + PyTorch feature classifiers for civil structure inspection.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Data &amp; Protocols:</a:t>
            </a:r>
            <a:r>
              <a:rPr b="0" sz="950">
                <a:solidFill>
                  <a:srgbClr val="334155"/>
                </a:solidFill>
              </a:rPr>
              <a:t> RESTful JSON APIs, OGC GeoJSON FeatureCollections, GDAL / Rasterio geoprocessing.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Methodology &amp; Implementation Process: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Pipeline:</a:t>
            </a:r>
            <a:r>
              <a:rPr b="0" sz="950">
                <a:solidFill>
                  <a:srgbClr val="334155"/>
                </a:solidFill>
              </a:rPr>
              <a:t> Field Photos + GPS → EXIF/DEM Validation → Vision AI Classification → Sentinel-2 Processing → PostGIS DB → Command UI.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Automated EXIF Extraction:</a:t>
            </a:r>
            <a:r>
              <a:rPr b="0" sz="950">
                <a:solidFill>
                  <a:srgbClr val="334155"/>
                </a:solidFill>
              </a:rPr>
              <a:t> Extracts coordinates, altitude, and capture timestamps from survey photographs.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3D Elevation Cross-Check:</a:t>
            </a:r>
            <a:r>
              <a:rPr b="0" sz="950">
                <a:solidFill>
                  <a:srgbClr val="334155"/>
                </a:solidFill>
              </a:rPr>
              <a:t> Cross-examines photo elevation with SRTM 30m DEM; flags discrepancies &gt;35m as tamper alerts.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Satellite Change Detection:</a:t>
            </a:r>
            <a:r>
              <a:rPr b="0" sz="950">
                <a:solidFill>
                  <a:srgbClr val="334155"/>
                </a:solidFill>
              </a:rPr>
              <a:t> Pre-monsoon vs. post-monsoon NDVI/NDWI raster difference computation.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Bilingual Field Accessibility:</a:t>
            </a:r>
            <a:r>
              <a:rPr b="0" sz="950">
                <a:solidFill>
                  <a:srgbClr val="334155"/>
                </a:solidFill>
              </a:rPr>
              <a:t> Complete English and Hindi (हिंदी) localization for Gram Panchayat and SLNA officers.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800"/>
            </a:pPr>
            <a:r>
              <a:t>WatershedVision Team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100">
                <a:solidFill>
                  <a:srgbClr val="059669"/>
                </a:solidFill>
              </a:defRPr>
            </a:pPr>
            <a:r>
              <a:t>Feasibility Analysis, Potential Challenges &amp; Mitigation Strategies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600"/>
              </a:spcBef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Feasibility Analysis: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Proven Stack:</a:t>
            </a:r>
            <a:r>
              <a:rPr b="0" sz="950">
                <a:solidFill>
                  <a:srgbClr val="334155"/>
                </a:solidFill>
              </a:rPr>
              <a:t> Built on robust open-source frameworks (FastAPI, PostGIS, Leaflet) eliminating proprietary licensing.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Live Web Prototype:</a:t>
            </a:r>
            <a:r>
              <a:rPr b="0" sz="950">
                <a:solidFill>
                  <a:srgbClr val="334155"/>
                </a:solidFill>
              </a:rPr>
              <a:t> Fully operational and deployed on cloud container infrastructure with zero client-side installs.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High Throughput:</a:t>
            </a:r>
            <a:r>
              <a:rPr b="0" sz="950">
                <a:solidFill>
                  <a:srgbClr val="334155"/>
                </a:solidFill>
              </a:rPr>
              <a:t> PostGIS handles thousands of micro-watersheds with sub-second spatial queries.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Cloud Satellite Processing:</a:t>
            </a:r>
            <a:r>
              <a:rPr b="0" sz="950">
                <a:solidFill>
                  <a:srgbClr val="334155"/>
                </a:solidFill>
              </a:rPr>
              <a:t> Google Earth Engine offloads heavy multispectral raster math from field machines.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Potential Challenges &amp; Risks: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Missing GPS Metadata:</a:t>
            </a:r>
            <a:r>
              <a:rPr b="0" sz="950">
                <a:solidFill>
                  <a:srgbClr val="334155"/>
                </a:solidFill>
              </a:rPr>
              <a:t> Certain camera apps strip EXIF geolocation metadata.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Variable Photo Quality:</a:t>
            </a:r>
            <a:r>
              <a:rPr b="0" sz="950">
                <a:solidFill>
                  <a:srgbClr val="334155"/>
                </a:solidFill>
              </a:rPr>
              <a:t> Blurry, low-light, or occluded photographs taken during adverse field weather.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Monsoon Cloud Cover:</a:t>
            </a:r>
            <a:r>
              <a:rPr b="0" sz="950">
                <a:solidFill>
                  <a:srgbClr val="334155"/>
                </a:solidFill>
              </a:rPr>
              <a:t> Optical Sentinel-2 imagery obscured during critical post-monsoon acquisition windows.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External API Latency:</a:t>
            </a:r>
            <a:r>
              <a:rPr b="0" sz="950">
                <a:solidFill>
                  <a:srgbClr val="334155"/>
                </a:solidFill>
              </a:rPr>
              <a:t> Network outages or rate limits on cloud AI endpoints.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Mitigation Strategies &amp; Scalability: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Interactive Correction:</a:t>
            </a:r>
            <a:r>
              <a:rPr b="0" sz="950">
                <a:solidFill>
                  <a:srgbClr val="334155"/>
                </a:solidFill>
              </a:rPr>
              <a:t> Surveyors can manually verify or drop coordinates on cadastral boundary maps.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Confidence Gating:</a:t>
            </a:r>
            <a:r>
              <a:rPr b="0" sz="950">
                <a:solidFill>
                  <a:srgbClr val="334155"/>
                </a:solidFill>
              </a:rPr>
              <a:t> Predictions under 75% confidence are flagged for human inspection by district engineers.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Temporal Composites:</a:t>
            </a:r>
            <a:r>
              <a:rPr b="0" sz="950">
                <a:solidFill>
                  <a:srgbClr val="334155"/>
                </a:solidFill>
              </a:rPr>
              <a:t> Multi-date cloud-masked compositing (May–Oct) penetrates cloud gaps using QA bands.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Scalability:</a:t>
            </a:r>
            <a:r>
              <a:rPr b="0" sz="950">
                <a:solidFill>
                  <a:srgbClr val="334155"/>
                </a:solidFill>
              </a:rPr>
              <a:t> Scalable from micro-watersheds to district (DWDC) and state (SLNA); offline-first PWA sync ready.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800"/>
            </a:pPr>
            <a:r>
              <a:t>WatershedVision Team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100">
                <a:solidFill>
                  <a:srgbClr val="059669"/>
                </a:solidFill>
              </a:defRPr>
            </a:pPr>
            <a:r>
              <a:t>Stakeholder Value, Operational Outcomes &amp; Environmental Sustainability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Target Beneficiaries: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District Watershed Officers:</a:t>
            </a:r>
            <a:r>
              <a:rPr b="0" sz="950">
                <a:solidFill>
                  <a:srgbClr val="334155"/>
                </a:solidFill>
              </a:rPr>
              <a:t> Holistic dashboard tracking intervention progress and fund allocation.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Field Surveyors:</a:t>
            </a:r>
            <a:r>
              <a:rPr b="0" sz="950">
                <a:solidFill>
                  <a:srgbClr val="334155"/>
                </a:solidFill>
              </a:rPr>
              <a:t> Rapid smartphone image upload with instant geofence and elevation validation.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GIS &amp; Remote Sensing Cells:</a:t>
            </a:r>
            <a:r>
              <a:rPr b="0" sz="950">
                <a:solidFill>
                  <a:srgbClr val="334155"/>
                </a:solidFill>
              </a:rPr>
              <a:t> Ready-to-use vector drainage, NDVI deltas, and intervention density heatmaps.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Government Administrators:</a:t>
            </a:r>
            <a:r>
              <a:rPr b="0" sz="950">
                <a:solidFill>
                  <a:srgbClr val="334155"/>
                </a:solidFill>
              </a:rPr>
              <a:t> Standardized, audit-ready compliance reporting across thousands of projects.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Operational &amp; Governance Benefits: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Faster Photo Auditing:</a:t>
            </a:r>
            <a:r>
              <a:rPr b="0" sz="950">
                <a:solidFill>
                  <a:srgbClr val="334155"/>
                </a:solidFill>
              </a:rPr>
              <a:t> Replaces manual scanning with automated classification and structural grading.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Anti-Fraud Verification:</a:t>
            </a:r>
            <a:r>
              <a:rPr b="0" sz="950">
                <a:solidFill>
                  <a:srgbClr val="334155"/>
                </a:solidFill>
              </a:rPr>
              <a:t> Point-in-polygon and DEM elevation checks eliminate fraudulent location reporting.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Objective Prioritization:</a:t>
            </a:r>
            <a:r>
              <a:rPr b="0" sz="950">
                <a:solidFill>
                  <a:srgbClr val="334155"/>
                </a:solidFill>
              </a:rPr>
              <a:t> Ranks physical interventions by siltation severity and capacity retention.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Transparent Reporting:</a:t>
            </a:r>
            <a:r>
              <a:rPr b="0" sz="950">
                <a:solidFill>
                  <a:srgbClr val="334155"/>
                </a:solidFill>
              </a:rPr>
              <a:t> One-click generation of official DoLR/MoRD format dossiers with QR verification.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Environmental Outcomes &amp; Impact Statement: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Plantation Survival:</a:t>
            </a:r>
            <a:r>
              <a:rPr b="0" sz="950">
                <a:solidFill>
                  <a:srgbClr val="334155"/>
                </a:solidFill>
              </a:rPr>
              <a:t> Measures canopy cover recovery over 3-year periods to verify afforestation success.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Soil Conservation:</a:t>
            </a:r>
            <a:r>
              <a:rPr b="0" sz="950">
                <a:solidFill>
                  <a:srgbClr val="334155"/>
                </a:solidFill>
              </a:rPr>
              <a:t> Identifies drainage channels requiring emergency gully plugs or contour bunds.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Water Security:</a:t>
            </a:r>
            <a:r>
              <a:rPr b="0" sz="950">
                <a:solidFill>
                  <a:srgbClr val="334155"/>
                </a:solidFill>
              </a:rPr>
              <a:t> Maps surface water body expansion across post-monsoon cycles.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Impact Statement:</a:t>
            </a:r>
            <a:r>
              <a:rPr b="0" sz="950">
                <a:solidFill>
                  <a:srgbClr val="334155"/>
                </a:solidFill>
              </a:rPr>
              <a:t> 'WatershedVision helps administrators move from reactive inspection to proactive, data-driven watershed management.'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800"/>
            </a:pPr>
            <a:r>
              <a:t>WatershedVision Team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100">
                <a:solidFill>
                  <a:srgbClr val="059669"/>
                </a:solidFill>
              </a:defRPr>
            </a:pPr>
            <a:r>
              <a:t>Details / Links of Reference &amp; Research Work, Project Verification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600"/>
              </a:spcBef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Official Standards &amp; Scientific Literature: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WDC-PMKSY 2.0 Operational Guidelines:</a:t>
            </a:r>
            <a:r>
              <a:rPr b="0" sz="950">
                <a:solidFill>
                  <a:srgbClr val="334155"/>
                </a:solidFill>
              </a:rPr>
              <a:t> Department of Land Resources (DoLR), Ministry of Rural Development.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Bhuvan SRISHTI &amp; DRISHTI Framework:</a:t>
            </a:r>
            <a:r>
              <a:rPr b="0" sz="950">
                <a:solidFill>
                  <a:srgbClr val="334155"/>
                </a:solidFill>
              </a:rPr>
              <a:t> National Remote Sensing Centre (NRSC) / ISRO.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Copernicus Sentinel-2 Technical Guide:</a:t>
            </a:r>
            <a:r>
              <a:rPr b="0" sz="950">
                <a:solidFill>
                  <a:srgbClr val="334155"/>
                </a:solidFill>
              </a:rPr>
              <a:t> European Space Agency (ESA) · 10m Multi-Band Optical Surface Reflectance.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USGS Landsat 8-9 Surface Reflectance:</a:t>
            </a:r>
            <a:r>
              <a:rPr b="0" sz="950">
                <a:solidFill>
                  <a:srgbClr val="334155"/>
                </a:solidFill>
              </a:rPr>
              <a:t> U.S. Geological Survey &amp; NASA · Earth Observation Spectral Archive.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Google Earth Engine:</a:t>
            </a:r>
            <a:r>
              <a:rPr b="0" sz="950">
                <a:solidFill>
                  <a:srgbClr val="334155"/>
                </a:solidFill>
              </a:rPr>
              <a:t> Planetary-Scale Geospatial Analysis: Gorelick, N. et al. (Remote Sensing of Environment, 2017).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PostGIS 3.4 Spatial Database:</a:t>
            </a:r>
            <a:r>
              <a:rPr b="0" sz="950">
                <a:solidFill>
                  <a:srgbClr val="334155"/>
                </a:solidFill>
              </a:rPr>
              <a:t> Open Geospatial Consortium (OGC) · Standardized Point-in-Polygon Engine.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Open-Source Project Links &amp; Verification: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GitHub Repository:</a:t>
            </a:r>
            <a:r>
              <a:rPr b="0" sz="950">
                <a:solidFill>
                  <a:srgbClr val="334155"/>
                </a:solidFill>
              </a:rPr>
              <a:t> https://github.com/psryogeshwar-14/watershed-vision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Live Web Application:</a:t>
            </a:r>
            <a:r>
              <a:rPr b="0" sz="950">
                <a:solidFill>
                  <a:srgbClr val="334155"/>
                </a:solidFill>
              </a:rPr>
              <a:t> https://watershed-vision.vercel.app/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Stack Verification:</a:t>
            </a:r>
            <a:r>
              <a:rPr b="0" sz="950">
                <a:solidFill>
                  <a:srgbClr val="334155"/>
                </a:solidFill>
              </a:rPr>
              <a:t> React 18, Vite, FastAPI, PostgreSQL/PostGIS, Sentinel-2, Docker containerized.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Governance &amp; Limitations Note: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Screening Support:</a:t>
            </a:r>
            <a:r>
              <a:rPr b="0" sz="950">
                <a:solidFill>
                  <a:srgbClr val="334155"/>
                </a:solidFill>
              </a:rPr>
              <a:t> AI predictions support screening and prioritisation.</a:t>
            </a:r>
          </a:p>
          <a:p>
            <a:pPr lvl="1"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Human Governance:</a:t>
            </a:r>
            <a:r>
              <a:rPr b="0" sz="950">
                <a:solidFill>
                  <a:srgbClr val="334155"/>
                </a:solidFill>
              </a:rPr>
              <a:t> Final engineering, funding, and maintenance decisions remain with authorised officers.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800"/>
            </a:pPr>
            <a:r>
              <a:t>WatershedVision Team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17410" descr="watershed_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926080"/>
            <a:ext cx="1645920" cy="164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